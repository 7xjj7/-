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37160"/>
            <a:ext cx="1225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00">
                <a:solidFill>
                  <a:srgbClr val="1F2A44"/>
                </a:solidFill>
                <a:latin typeface="Microsoft YaHei"/>
              </a:rPr>
              <a:t>甜玉米灌浆期高温诱导籽粒败育研究技术路线图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3840480" cy="457200"/>
          </a:xfrm>
          <a:prstGeom prst="roundRect">
            <a:avLst/>
          </a:prstGeom>
          <a:solidFill>
            <a:srgbClr val="3E7CB1"/>
          </a:solidFill>
          <a:ln>
            <a:solidFill>
              <a:srgbClr val="3E7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研究方法与实验设计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94960" y="777240"/>
            <a:ext cx="3840480" cy="457200"/>
          </a:xfrm>
          <a:prstGeom prst="roundRect">
            <a:avLst/>
          </a:prstGeom>
          <a:solidFill>
            <a:srgbClr val="2F9E8F"/>
          </a:solidFill>
          <a:ln>
            <a:solidFill>
              <a:srgbClr val="2F9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研究内容（模块）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777240"/>
            <a:ext cx="3840480" cy="457200"/>
          </a:xfrm>
          <a:prstGeom prst="roundRect">
            <a:avLst/>
          </a:prstGeom>
          <a:solidFill>
            <a:srgbClr val="7A5EA6"/>
          </a:solidFill>
          <a:ln>
            <a:solidFill>
              <a:srgbClr val="7A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研究目标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840480" cy="1097280"/>
          </a:xfrm>
          <a:prstGeom prst="roundRect">
            <a:avLst/>
          </a:prstGeom>
          <a:solidFill>
            <a:srgbClr val="EAF2FB"/>
          </a:solidFill>
          <a:ln>
            <a:solidFill>
              <a:srgbClr val="3E7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F2A44"/>
                </a:solidFill>
                <a:latin typeface="Microsoft YaHei"/>
              </a:rPr>
              <a:t>材料与分组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粤甜16、浙甜922、B73（参照）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DAP3-8、8-13、13-18、18-23、3-13、13-23、3-23、CK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97480"/>
            <a:ext cx="3840480" cy="1143000"/>
          </a:xfrm>
          <a:prstGeom prst="roundRect">
            <a:avLst/>
          </a:prstGeom>
          <a:solidFill>
            <a:srgbClr val="EAF2FB"/>
          </a:solidFill>
          <a:ln>
            <a:solidFill>
              <a:srgbClr val="3E7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F2A44"/>
                </a:solidFill>
                <a:latin typeface="Microsoft YaHei"/>
              </a:rPr>
              <a:t>高温处理与试验组织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单气候箱实施全部处理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分批次独立重复（Batch）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箱内随机摆放+定期轮换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3840480" cy="822960"/>
          </a:xfrm>
          <a:prstGeom prst="roundRect">
            <a:avLst/>
          </a:prstGeom>
          <a:solidFill>
            <a:srgbClr val="EAF2FB"/>
          </a:solidFill>
          <a:ln>
            <a:solidFill>
              <a:srgbClr val="3E7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F2A44"/>
                </a:solidFill>
                <a:latin typeface="Microsoft YaHei"/>
              </a:rPr>
              <a:t>动态取样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DAP8、13、18（窗口末端）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DAP23（终点）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3840480" cy="2103120"/>
          </a:xfrm>
          <a:prstGeom prst="roundRect">
            <a:avLst/>
          </a:prstGeom>
          <a:solidFill>
            <a:srgbClr val="EAF2FB"/>
          </a:solidFill>
          <a:ln>
            <a:solidFill>
              <a:srgbClr val="3E7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F2A44"/>
                </a:solidFill>
                <a:latin typeface="Microsoft YaHei"/>
              </a:rPr>
              <a:t>关键测定与统计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败育类型/结实率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组织学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ABA/GA、ROS、AGPase/SSS/SBE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qPCR候选基因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GLMM/LMM（Batch随机效应）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463040"/>
            <a:ext cx="3840480" cy="1097280"/>
          </a:xfrm>
          <a:prstGeom prst="roundRect">
            <a:avLst/>
          </a:prstGeom>
          <a:solidFill>
            <a:srgbClr val="E8F7F4"/>
          </a:solidFill>
          <a:ln>
            <a:solidFill>
              <a:srgbClr val="2F9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F2A44"/>
                </a:solidFill>
                <a:latin typeface="Microsoft YaHei"/>
              </a:rPr>
              <a:t>I 关键窗口期识别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比较8个处理败育差异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界定不可逆败育热敏窗口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697480"/>
            <a:ext cx="3840480" cy="1234440"/>
          </a:xfrm>
          <a:prstGeom prst="roundRect">
            <a:avLst/>
          </a:prstGeom>
          <a:solidFill>
            <a:srgbClr val="E8F7F4"/>
          </a:solidFill>
          <a:ln>
            <a:solidFill>
              <a:srgbClr val="2F9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F2A44"/>
                </a:solidFill>
                <a:latin typeface="Microsoft YaHei"/>
              </a:rPr>
              <a:t>II 生理机制解析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ABA/GA失衡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ROS损伤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淀粉合成关键酶活受抑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4114800"/>
            <a:ext cx="3840480" cy="1005840"/>
          </a:xfrm>
          <a:prstGeom prst="roundRect">
            <a:avLst/>
          </a:prstGeom>
          <a:solidFill>
            <a:srgbClr val="E8F7F4"/>
          </a:solidFill>
          <a:ln>
            <a:solidFill>
              <a:srgbClr val="2F9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F2A44"/>
                </a:solidFill>
                <a:latin typeface="Microsoft YaHei"/>
              </a:rPr>
              <a:t>III 分子响应（qPCR）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HSFs、su1、AGPase、SSS、SBEIIb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筛选败育相关候选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257800"/>
            <a:ext cx="3840480" cy="1097280"/>
          </a:xfrm>
          <a:prstGeom prst="roundRect">
            <a:avLst/>
          </a:prstGeom>
          <a:solidFill>
            <a:srgbClr val="E8F7F4"/>
          </a:solidFill>
          <a:ln>
            <a:solidFill>
              <a:srgbClr val="2F9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F2A44"/>
                </a:solidFill>
                <a:latin typeface="Microsoft YaHei"/>
              </a:rPr>
              <a:t>IV 评价指标体系构建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整合表型-生理-分子指标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形成耐热评价流程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1783080"/>
            <a:ext cx="3840480" cy="914400"/>
          </a:xfrm>
          <a:prstGeom prst="roundRect">
            <a:avLst/>
          </a:prstGeom>
          <a:solidFill>
            <a:srgbClr val="F2ECFB"/>
          </a:solidFill>
          <a:ln>
            <a:solidFill>
              <a:srgbClr val="7A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F2A44"/>
                </a:solidFill>
                <a:latin typeface="Microsoft YaHei"/>
              </a:rPr>
              <a:t>目标1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明确关键敏感时段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834640"/>
            <a:ext cx="3840480" cy="1097280"/>
          </a:xfrm>
          <a:prstGeom prst="roundRect">
            <a:avLst/>
          </a:prstGeom>
          <a:solidFill>
            <a:srgbClr val="F2ECFB"/>
          </a:solidFill>
          <a:ln>
            <a:solidFill>
              <a:srgbClr val="7A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F2A44"/>
                </a:solidFill>
                <a:latin typeface="Microsoft YaHei"/>
              </a:rPr>
              <a:t>目标2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阐明激素-ROS-淀粉合成协同机制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4114800"/>
            <a:ext cx="3840480" cy="868680"/>
          </a:xfrm>
          <a:prstGeom prst="roundRect">
            <a:avLst/>
          </a:prstGeom>
          <a:solidFill>
            <a:srgbClr val="F2ECFB"/>
          </a:solidFill>
          <a:ln>
            <a:solidFill>
              <a:srgbClr val="7A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F2A44"/>
                </a:solidFill>
                <a:latin typeface="Microsoft YaHei"/>
              </a:rPr>
              <a:t>目标3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筛选分子候选指标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5120640"/>
            <a:ext cx="3840480" cy="960120"/>
          </a:xfrm>
          <a:prstGeom prst="roundRect">
            <a:avLst/>
          </a:prstGeom>
          <a:solidFill>
            <a:srgbClr val="F2ECFB"/>
          </a:solidFill>
          <a:ln>
            <a:solidFill>
              <a:srgbClr val="7A5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F2A44"/>
                </a:solidFill>
                <a:latin typeface="Microsoft YaHei"/>
              </a:rPr>
              <a:t>目标4</a:t>
            </a:r>
          </a:p>
          <a:p>
            <a:pPr>
              <a:defRPr sz="1100">
                <a:solidFill>
                  <a:srgbClr val="1F2A44"/>
                </a:solidFill>
                <a:latin typeface="Microsoft YaHei"/>
              </a:defRPr>
            </a:pPr>
            <a:r>
              <a:t>• 建立败育核心耐热评价体系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34840" y="2011680"/>
            <a:ext cx="86868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34840" y="3154680"/>
            <a:ext cx="86868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34840" y="4389120"/>
            <a:ext cx="86868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34840" y="5806440"/>
            <a:ext cx="86868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235440" y="2240280"/>
            <a:ext cx="96012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40" y="3337560"/>
            <a:ext cx="96012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5440" y="4572000"/>
            <a:ext cx="96012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35440" y="5806440"/>
            <a:ext cx="96012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